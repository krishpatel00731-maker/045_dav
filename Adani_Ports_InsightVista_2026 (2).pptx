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were identified from the traces left in the cleaned file (original symbol column, adjusted vs unadjusted prices, imputation flag).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solidFill>
            <a:srgbClr val="3DD6C6">
              <a:alpha val="10000"/>
            </a:srgbClr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474720"/>
            <a:ext cx="3840480" cy="3840480"/>
          </a:xfrm>
          <a:prstGeom prst="ellipse">
            <a:avLst/>
          </a:prstGeom>
          <a:solidFill>
            <a:srgbClr val="6B9EFF">
              <a:alpha val="8000"/>
            </a:srgbClr>
          </a:solidFill>
          <a:ln w="12700">
            <a:solidFill>
              <a:srgbClr val="6B9E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INSIGHTVISTA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Adani Ports Nifty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and visual insights, 2007 to 2021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And Visualisation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Code: 1 IT508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ALGO ALLIANCE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240840116001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4617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240840116026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4617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240840116045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4617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240840116081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|  UNDERSTANDING THE RAW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observation and problems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1143000"/>
          </a:xfrm>
          <a:prstGeom prst="roundRect">
            <a:avLst>
              <a:gd name="adj" fmla="val 9600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3,322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33472" cy="1143000"/>
          </a:xfrm>
          <a:prstGeom prst="roundRect">
            <a:avLst>
              <a:gd name="adj" fmla="val 9600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27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 yrs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Nov 2007 to 30 Apr 2021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33472" cy="1143000"/>
          </a:xfrm>
          <a:prstGeom prst="roundRect">
            <a:avLst>
              <a:gd name="adj" fmla="val 9600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27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(EQ), one stock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33472" cy="1143000"/>
          </a:xfrm>
          <a:prstGeom prst="roundRect">
            <a:avLst>
              <a:gd name="adj" fmla="val 9600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627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7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249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names in one file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75888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021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changed mid-series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traded as MUNDRAPORT until Jan 2012 (1,023 rows), then ADANIPORTS. Grouping by symbol splits one history in two.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342900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675888"/>
            <a:ext cx="457200" cy="45720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5021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not split-adjusted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 rows (Nov 2007 to Sep 2010) sit at 5x the later price level, so a corporate action looks like a false price crash.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73168"/>
            <a:ext cx="457200" cy="457200"/>
          </a:xfrm>
          <a:prstGeom prst="ellipse">
            <a:avLst/>
          </a:prstGeom>
          <a:solidFill>
            <a:srgbClr val="6B9EFF"/>
          </a:solidFill>
          <a:ln w="12700">
            <a:solidFill>
              <a:srgbClr val="6B9E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599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trade counts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866 rows (up to May 2011) have no number of trades, which breaks averages and trend charts.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773168"/>
            <a:ext cx="457200" cy="457200"/>
          </a:xfrm>
          <a:prstGeom prst="ellipse">
            <a:avLst/>
          </a:prstGeom>
          <a:solidFill>
            <a:srgbClr val="F4799F"/>
          </a:solidFill>
          <a:ln w="12700">
            <a:solidFill>
              <a:srgbClr val="F4799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599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only, no analytics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returns, moving averages or volatility. Turnover is in raw rupees (billions), which is hard to read.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870448"/>
            <a:ext cx="457200" cy="45720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870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5696712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trading days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records fall on weekends (special sessions) and extreme moves such as +20% and -19% need to be flagged, not deleted.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|  BUILDING THE FINAL CSV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pre-processing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sort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8036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 to datetime, sort oldest to newest, check for duplicate dates (none found).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93492" y="160020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4660" y="1801368"/>
            <a:ext cx="502920" cy="5029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46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94660" y="24688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symbol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94660" y="288036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old name in Symbol_Original and use ADANIPORTS in Symbol for the whole history.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32604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38344" y="160020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1801368"/>
            <a:ext cx="502920" cy="502920"/>
          </a:xfrm>
          <a:prstGeom prst="ellipse">
            <a:avLst/>
          </a:prstGeom>
          <a:solidFill>
            <a:srgbClr val="6B9EFF"/>
          </a:solidFill>
          <a:ln w="12700">
            <a:solidFill>
              <a:srgbClr val="6B9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4688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split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288036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Adj_ price columns and Adj_Volume so 2007-2010 matches the current price scale.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83196" y="160020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4364" y="1801368"/>
            <a:ext cx="502920" cy="502920"/>
          </a:xfrm>
          <a:prstGeom prst="ellipse">
            <a:avLst/>
          </a:prstGeom>
          <a:solidFill>
            <a:srgbClr val="F4799F"/>
          </a:solidFill>
          <a:ln w="12700">
            <a:solidFill>
              <a:srgbClr val="F4799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84364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84364" y="24688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values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84364" y="288036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Trades and flag every filled row in Trades_Imputed (866 rows).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322308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528048" y="160020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1801368"/>
            <a:ext cx="502920" cy="50292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29216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4688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288036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returns, range %, gap %, SMA 20/50/200, 20-day volatility, cumulative return and Trend.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828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ADANIPORTS_cleaned.csv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with pandas: df.to_csv("ADANIPORTS_cleaned.csv", index=False)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3,322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5623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623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332720" y="4983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5623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| 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clean dataset: how it solves the problems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in the final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ticker names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 + Symbol_Original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continuous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Unadjusted prices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Adj_Open / High / Low / Close / VWAP, Adj_Volume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long-term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Trades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values + Trades_Imputed flag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gaps, still traceable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analytics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Daily_Return_Pct, Range_Pct, Gap_Pct, SMA, Volatility_20D,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Hard-to-read turnover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Turnover_Cr (crore) next to Turnover_INR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6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groups (42)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46720" y="2267712"/>
            <a:ext cx="182880" cy="182880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calendar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Year, Quarter, Month, Weekday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46720" y="3090672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017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volume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and Adj_ OHLC, VWAP, Volume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913632"/>
            <a:ext cx="182880" cy="182880"/>
          </a:xfrm>
          <a:prstGeom prst="ellipse">
            <a:avLst/>
          </a:prstGeom>
          <a:solidFill>
            <a:srgbClr val="6B9EFF"/>
          </a:solidFill>
          <a:ln w="12700">
            <a:solidFill>
              <a:srgbClr val="6B9E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Trades, Deliverable_Volume, Pct_Deliverable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0" y="4736592"/>
            <a:ext cx="182880" cy="182880"/>
          </a:xfrm>
          <a:prstGeom prst="ellipse">
            <a:avLst/>
          </a:prstGeom>
          <a:solidFill>
            <a:srgbClr val="F4799F"/>
          </a:solidFill>
          <a:ln w="12700">
            <a:solidFill>
              <a:srgbClr val="F4799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range, gap, SMA, volatility, Trend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3,322 trading days, one clean ticker, no missing values. Every dashboard chart is built from this file.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Visualised dashboard</a:t>
            </a:r>
            <a:endParaRPr lang="en-US" sz="2800" dirty="0"/>
          </a:p>
        </p:txBody>
      </p:sp>
      <p:pic>
        <p:nvPicPr>
          <p:cNvPr id="3" name="Image 0" descr="Adani Ports stock market insights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250" y="822960"/>
            <a:ext cx="10363092" cy="5897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0" y="320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and insights from the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1051560"/>
          </a:xfrm>
          <a:prstGeom prst="roundRect">
            <a:avLst>
              <a:gd name="adj" fmla="val 10435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730.05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close, 30 Apr 2021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508760"/>
            <a:ext cx="2633472" cy="1051560"/>
          </a:xfrm>
          <a:prstGeom prst="roundRect">
            <a:avLst>
              <a:gd name="adj" fmla="val 10435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572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835.55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close, 6 Apr 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33472" cy="1051560"/>
          </a:xfrm>
          <a:prstGeom prst="roundRect">
            <a:avLst>
              <a:gd name="adj" fmla="val 10435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572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3.42M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508760"/>
            <a:ext cx="2633472" cy="1051560"/>
          </a:xfrm>
          <a:prstGeom prst="roundRect">
            <a:avLst>
              <a:gd name="adj" fmla="val 10435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572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7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2918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fell to about Rs 52 in Nov 2008 (global crisis), moved sideways near Rs 100-150 until 2013, rallied from 2014, and surged in 2021. The 2021 average close of about Rs 653 is nearly double 2020 (about Rs 348).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78892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2918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years were 2020 and 2021 (about 1.29 billion shares each; 2021 covers only four months), then 2016 (about 1.19 billion). Volume was lowest in 2011-2012.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participation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share peaked at about 56% in 2013 and fell steadily to about 17% in 2021, so the recent rally is driven more by short-term trading than by holders.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5720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vs VWAP and risk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Close and VWAP almost overlap, so closes are close to fair traded value. Biggest daily moves: +20% on 9 Jul 2008 and -19% on 23 Mar 2020.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475488" cy="475488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5544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adjusted prices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55448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2007-2010 prices are on a different scale. Any model or chart must use the Adj_ columns.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75488" cy="47548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5059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deliverable % with price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450592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delivery during a price surge signals speculative momentum. Track both before reading a rally as strong.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02152"/>
            <a:ext cx="475488" cy="475488"/>
          </a:xfrm>
          <a:prstGeom prst="ellipse">
            <a:avLst/>
          </a:prstGeom>
          <a:solidFill>
            <a:srgbClr val="6B9EFF"/>
          </a:solidFill>
          <a:ln w="12700">
            <a:solidFill>
              <a:srgbClr val="6B9E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34670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volatility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46704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swings reached +20% and -19%. Use the 20-day volatility and SMA 50/200 trend lines to size risk.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98264"/>
            <a:ext cx="475488" cy="475488"/>
          </a:xfrm>
          <a:prstGeom prst="ellipse">
            <a:avLst/>
          </a:prstGeom>
          <a:solidFill>
            <a:srgbClr val="F4799F"/>
          </a:solidFill>
          <a:ln w="12700">
            <a:solidFill>
              <a:srgbClr val="F479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4281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 to the analysis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4242816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Nifty 50 index and peer port stocks, and add fundamentals such as cargo volumes and earnings.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64240" cy="786384"/>
          </a:xfrm>
          <a:prstGeom prst="roundRect">
            <a:avLst>
              <a:gd name="adj" fmla="val 13953"/>
            </a:avLst>
          </a:prstGeom>
          <a:solidFill>
            <a:srgbClr val="121D31"/>
          </a:solidFill>
          <a:ln w="9525">
            <a:solidFill>
              <a:srgbClr val="1D2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94376"/>
            <a:ext cx="475488" cy="475488"/>
          </a:xfrm>
          <a:prstGeom prst="ellipse">
            <a:avLst/>
          </a:prstGeom>
          <a:solidFill>
            <a:srgbClr val="3DD6C6"/>
          </a:solidFill>
          <a:ln w="12700">
            <a:solidFill>
              <a:srgbClr val="3DD6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294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1389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and forecast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5138928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pipeline reusable for new data, then test forecasting models (ARIMA, LSTM) on the adjusted series.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analysis only; not investment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Adani Ports Nifty - InsightVista 2026</dc:title>
  <dc:subject>PptxGenJS Presentation</dc:subject>
  <dc:creator>PptxGenJS</dc:creator>
  <cp:lastModifiedBy>PptxGenJS</cp:lastModifiedBy>
  <cp:revision>1</cp:revision>
  <dcterms:created xsi:type="dcterms:W3CDTF">2026-10-12T09:35:02Z</dcterms:created>
  <dcterms:modified xsi:type="dcterms:W3CDTF">2026-10-12T09:35:02Z</dcterms:modified>
</cp:coreProperties>
</file>